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7" r:id="rId3"/>
    <p:sldId id="257" r:id="rId4"/>
    <p:sldId id="258" r:id="rId5"/>
    <p:sldId id="261" r:id="rId6"/>
    <p:sldId id="262" r:id="rId7"/>
    <p:sldId id="263" r:id="rId8"/>
    <p:sldId id="264" r:id="rId9"/>
    <p:sldId id="259" r:id="rId10"/>
    <p:sldId id="265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CC"/>
    <a:srgbClr val="5B47EF"/>
    <a:srgbClr val="92E3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DC4B-A25A-4A39-917D-151018E76B13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1380-26A4-42DE-ACD5-84E5AB1DEEF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175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DC4B-A25A-4A39-917D-151018E76B13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1380-26A4-42DE-ACD5-84E5AB1DEE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821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DC4B-A25A-4A39-917D-151018E76B13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1380-26A4-42DE-ACD5-84E5AB1DEEF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39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DC4B-A25A-4A39-917D-151018E76B13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1380-26A4-42DE-ACD5-84E5AB1DEE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845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DC4B-A25A-4A39-917D-151018E76B13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1380-26A4-42DE-ACD5-84E5AB1DEE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664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DC4B-A25A-4A39-917D-151018E76B13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1380-26A4-42DE-ACD5-84E5AB1DEE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637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DC4B-A25A-4A39-917D-151018E76B13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1380-26A4-42DE-ACD5-84E5AB1DEE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906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0EFDC4B-A25A-4A39-917D-151018E76B13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BDC1380-26A4-42DE-ACD5-84E5AB1DEE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983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DC4B-A25A-4A39-917D-151018E76B13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1380-26A4-42DE-ACD5-84E5AB1DEE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890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DC4B-A25A-4A39-917D-151018E76B13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1380-26A4-42DE-ACD5-84E5AB1DEE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0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DC4B-A25A-4A39-917D-151018E76B13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1380-26A4-42DE-ACD5-84E5AB1DEE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696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0EFDC4B-A25A-4A39-917D-151018E76B13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BDC1380-26A4-42DE-ACD5-84E5AB1DEEF1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752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4A2BF-71CB-888C-1E2D-2369B472AA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4868A0-0BC7-CD4B-B187-6FB8949A38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764A3C-6A6B-697C-40F3-D7361439C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" t="219" r="-662" b="27796"/>
          <a:stretch/>
        </p:blipFill>
        <p:spPr>
          <a:xfrm>
            <a:off x="9331" y="-828869"/>
            <a:ext cx="12273279" cy="7696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0B6046-8F47-7D56-1FE5-05860E6292CA}"/>
              </a:ext>
            </a:extLst>
          </p:cNvPr>
          <p:cNvSpPr txBox="1"/>
          <p:nvPr/>
        </p:nvSpPr>
        <p:spPr>
          <a:xfrm>
            <a:off x="1311412" y="457877"/>
            <a:ext cx="62410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  <a:t>CUSTOMER RETENTION </a:t>
            </a:r>
            <a:b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</a:br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  <a:t>AND </a:t>
            </a:r>
            <a:b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</a:br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  <a:t>SALES PERFORMANCE ANALYSIS</a:t>
            </a:r>
            <a:endParaRPr lang="en-IN" sz="28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52CBA0-C80B-541E-C1A3-66EC08DF7000}"/>
              </a:ext>
            </a:extLst>
          </p:cNvPr>
          <p:cNvSpPr txBox="1"/>
          <p:nvPr/>
        </p:nvSpPr>
        <p:spPr>
          <a:xfrm>
            <a:off x="8161694" y="854603"/>
            <a:ext cx="311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bg1"/>
                </a:solidFill>
                <a:latin typeface="Algerian" panose="04020705040A02060702" pitchFamily="82" charset="0"/>
              </a:defRPr>
            </a:lvl1pPr>
          </a:lstStyle>
          <a:p>
            <a:r>
              <a:rPr lang="en-IN" dirty="0"/>
              <a:t>Online Retail II Dataset </a:t>
            </a:r>
          </a:p>
        </p:txBody>
      </p:sp>
    </p:spTree>
    <p:extLst>
      <p:ext uri="{BB962C8B-B14F-4D97-AF65-F5344CB8AC3E}">
        <p14:creationId xmlns:p14="http://schemas.microsoft.com/office/powerpoint/2010/main" val="2637593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F39474-7EC5-3964-9912-00A7B6A89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36"/>
          <a:stretch/>
        </p:blipFill>
        <p:spPr>
          <a:xfrm>
            <a:off x="-7776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A6B121-51AD-D085-E402-394812222208}"/>
              </a:ext>
            </a:extLst>
          </p:cNvPr>
          <p:cNvSpPr txBox="1"/>
          <p:nvPr/>
        </p:nvSpPr>
        <p:spPr>
          <a:xfrm>
            <a:off x="835385" y="739880"/>
            <a:ext cx="6507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Algerian" panose="04020705040A02060702" pitchFamily="82" charset="0"/>
              </a:rPr>
              <a:t>Reason for PROJECT Selection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905B52-B916-ADDA-9B16-0A5511831293}"/>
              </a:ext>
            </a:extLst>
          </p:cNvPr>
          <p:cNvSpPr txBox="1"/>
          <p:nvPr/>
        </p:nvSpPr>
        <p:spPr>
          <a:xfrm flipH="1">
            <a:off x="835386" y="1397675"/>
            <a:ext cx="101983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To explore how data visualization can reveal sales patterns and customer behavior in an online retail business.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The goal is to transform raw transaction data into actionable insights that help improve performance and decision-making.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99F74C-CDF5-510E-98C0-976430017150}"/>
              </a:ext>
            </a:extLst>
          </p:cNvPr>
          <p:cNvSpPr txBox="1"/>
          <p:nvPr/>
        </p:nvSpPr>
        <p:spPr>
          <a:xfrm>
            <a:off x="835386" y="3400655"/>
            <a:ext cx="8056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Algerian" panose="04020705040A02060702" pitchFamily="82" charset="0"/>
              </a:rPr>
              <a:t>Relevance to Real-World Scenarios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883C35-1C41-F54A-BA07-F869D1FD76DC}"/>
              </a:ext>
            </a:extLst>
          </p:cNvPr>
          <p:cNvSpPr txBox="1"/>
          <p:nvPr/>
        </p:nvSpPr>
        <p:spPr>
          <a:xfrm flipH="1">
            <a:off x="835385" y="4058450"/>
            <a:ext cx="10198359" cy="1711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Online businesses rely on data-driven insights to monitor sales trends and customer loyalty.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This project demonstrates how Power BI dashboards can help track revenue, identify best-selling products, and understand country-wise performance.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225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F39474-7EC5-3964-9912-00A7B6A89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36"/>
          <a:stretch/>
        </p:blipFill>
        <p:spPr>
          <a:xfrm>
            <a:off x="-9331" y="0"/>
            <a:ext cx="12192000" cy="68580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87DD9D-0343-439A-C6C4-0BB9DDCBD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592559"/>
              </p:ext>
            </p:extLst>
          </p:nvPr>
        </p:nvGraphicFramePr>
        <p:xfrm>
          <a:off x="1296364" y="1672547"/>
          <a:ext cx="9792182" cy="4274915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694563">
                  <a:extLst>
                    <a:ext uri="{9D8B030D-6E8A-4147-A177-3AD203B41FA5}">
                      <a16:colId xmlns:a16="http://schemas.microsoft.com/office/drawing/2014/main" val="3661469245"/>
                    </a:ext>
                  </a:extLst>
                </a:gridCol>
                <a:gridCol w="5097619">
                  <a:extLst>
                    <a:ext uri="{9D8B030D-6E8A-4147-A177-3AD203B41FA5}">
                      <a16:colId xmlns:a16="http://schemas.microsoft.com/office/drawing/2014/main" val="1407745715"/>
                    </a:ext>
                  </a:extLst>
                </a:gridCol>
              </a:tblGrid>
              <a:tr h="479192"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Attribute</a:t>
                      </a:r>
                      <a:endParaRPr lang="en-IN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rgbClr val="5A47EE"/>
                        </a:gs>
                        <a:gs pos="100000">
                          <a:srgbClr val="002060"/>
                        </a:gs>
                        <a:gs pos="25000">
                          <a:srgbClr val="92E3F6"/>
                        </a:gs>
                        <a:gs pos="77000">
                          <a:srgbClr val="5B47EF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IN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rgbClr val="5A47EE"/>
                        </a:gs>
                        <a:gs pos="100000">
                          <a:srgbClr val="002060"/>
                        </a:gs>
                        <a:gs pos="25000">
                          <a:srgbClr val="92E3F6"/>
                        </a:gs>
                        <a:gs pos="77000">
                          <a:srgbClr val="5B47EF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993913488"/>
                  </a:ext>
                </a:extLst>
              </a:tr>
              <a:tr h="854180">
                <a:tc>
                  <a:txBody>
                    <a:bodyPr/>
                    <a:lstStyle/>
                    <a:p>
                      <a:r>
                        <a:rPr lang="en-IN" b="0" cap="none" spc="0" dirty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Source</a:t>
                      </a:r>
                      <a:endParaRPr lang="en-IN" b="0" cap="none" spc="0" dirty="0">
                        <a:ln w="0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 Black" panose="020B0A040201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cap="none" spc="0" dirty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Online Retail II Dataset (UCI Machine Learning Repository)</a:t>
                      </a:r>
                      <a:endParaRPr lang="en-US" sz="1800" b="0" kern="1200" cap="none" spc="0" dirty="0">
                        <a:ln w="0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744220"/>
                  </a:ext>
                </a:extLst>
              </a:tr>
              <a:tr h="494883">
                <a:tc>
                  <a:txBody>
                    <a:bodyPr/>
                    <a:lstStyle/>
                    <a:p>
                      <a:r>
                        <a:rPr lang="en-IN" sz="1800" b="0" kern="1200" cap="none" spc="0" dirty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Time Period</a:t>
                      </a:r>
                      <a:endParaRPr lang="en-IN" sz="1800" b="0" kern="1200" cap="none" spc="0" dirty="0">
                        <a:ln w="0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kern="1200" cap="none" spc="0" dirty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01 December 2009 – 09 December 2011</a:t>
                      </a:r>
                      <a:endParaRPr lang="en-IN" sz="1800" b="0" kern="1200" cap="none" spc="0" dirty="0">
                        <a:ln w="0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627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0" kern="1200" cap="none" spc="0" dirty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Records</a:t>
                      </a:r>
                      <a:endParaRPr lang="en-IN" sz="1800" b="0" kern="1200" cap="none" spc="0" dirty="0">
                        <a:ln w="0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kern="1200" cap="none" spc="0" dirty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1 million transaction records</a:t>
                      </a:r>
                      <a:endParaRPr lang="en-IN" sz="1800" b="0" kern="1200" cap="none" spc="0" dirty="0">
                        <a:ln w="0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12101"/>
                  </a:ext>
                </a:extLst>
              </a:tr>
              <a:tr h="494883">
                <a:tc>
                  <a:txBody>
                    <a:bodyPr/>
                    <a:lstStyle/>
                    <a:p>
                      <a:r>
                        <a:rPr lang="en-IN" sz="1800" b="0" kern="1200" cap="none" spc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Business Domain</a:t>
                      </a:r>
                      <a:endParaRPr lang="en-IN" sz="1800" b="0" kern="1200" cap="none" spc="0">
                        <a:ln w="0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kern="1200" cap="none" spc="0" dirty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Non-store UK-based online  retailer</a:t>
                      </a:r>
                      <a:endParaRPr lang="en-IN" sz="1800" b="0" kern="1200" cap="none" spc="0" dirty="0">
                        <a:ln w="0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793763"/>
                  </a:ext>
                </a:extLst>
              </a:tr>
              <a:tr h="1220257">
                <a:tc>
                  <a:txBody>
                    <a:bodyPr/>
                    <a:lstStyle/>
                    <a:p>
                      <a:r>
                        <a:rPr lang="en-IN" sz="1800" b="0" kern="1200" cap="none" spc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Attributes</a:t>
                      </a:r>
                      <a:endParaRPr lang="en-IN" sz="1800" b="0" kern="1200" cap="none" spc="0">
                        <a:ln w="0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cap="none" spc="0" dirty="0" err="1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InvoiceNo</a:t>
                      </a:r>
                      <a:r>
                        <a:rPr lang="en-US" sz="1800" b="0" kern="1200" cap="none" spc="0" dirty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, </a:t>
                      </a:r>
                      <a:r>
                        <a:rPr lang="en-US" sz="1800" b="0" kern="1200" cap="none" spc="0" dirty="0" err="1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StockCode</a:t>
                      </a:r>
                      <a:r>
                        <a:rPr lang="en-US" sz="1800" b="0" kern="1200" cap="none" spc="0" dirty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, Description, Quantity, </a:t>
                      </a:r>
                      <a:r>
                        <a:rPr lang="en-US" sz="1800" b="0" kern="1200" cap="none" spc="0" dirty="0" err="1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InvoiceDate</a:t>
                      </a:r>
                      <a:r>
                        <a:rPr lang="en-US" sz="1800" b="0" kern="1200" cap="none" spc="0" dirty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, </a:t>
                      </a:r>
                      <a:r>
                        <a:rPr lang="en-US" sz="1800" b="0" kern="1200" cap="none" spc="0" dirty="0" err="1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UnitPrice</a:t>
                      </a:r>
                      <a:r>
                        <a:rPr lang="en-US" sz="1800" b="0" kern="1200" cap="none" spc="0" dirty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, </a:t>
                      </a:r>
                      <a:r>
                        <a:rPr lang="en-US" sz="1800" b="0" kern="1200" cap="none" spc="0" dirty="0" err="1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CustomerID</a:t>
                      </a:r>
                      <a:r>
                        <a:rPr lang="en-US" sz="1800" b="0" kern="1200" cap="none" spc="0" dirty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, Country</a:t>
                      </a:r>
                      <a:endParaRPr lang="en-US" sz="1800" b="0" kern="1200" cap="none" spc="0" dirty="0">
                        <a:ln w="0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061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0" kern="1200" cap="none" spc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Currency</a:t>
                      </a:r>
                      <a:endParaRPr lang="en-IN" sz="1800" b="0" kern="1200" cap="none" spc="0">
                        <a:ln w="0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kern="1200" cap="none" spc="0" dirty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All transactions in Euro (£)</a:t>
                      </a:r>
                      <a:endParaRPr lang="en-IN" sz="1800" b="0" kern="1200" cap="none" spc="0" dirty="0">
                        <a:ln w="0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5942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FA6B121-51AD-D085-E402-394812222208}"/>
              </a:ext>
            </a:extLst>
          </p:cNvPr>
          <p:cNvSpPr txBox="1"/>
          <p:nvPr/>
        </p:nvSpPr>
        <p:spPr>
          <a:xfrm>
            <a:off x="1180617" y="910538"/>
            <a:ext cx="4618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Algerian" panose="04020705040A02060702" pitchFamily="82" charset="0"/>
              </a:rPr>
              <a:t>Dataset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lgerian" panose="04020705040A02060702" pitchFamily="82" charset="0"/>
              </a:rPr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983285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F39474-7EC5-3964-9912-00A7B6A89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3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A6B121-51AD-D085-E402-394812222208}"/>
              </a:ext>
            </a:extLst>
          </p:cNvPr>
          <p:cNvSpPr txBox="1"/>
          <p:nvPr/>
        </p:nvSpPr>
        <p:spPr>
          <a:xfrm>
            <a:off x="1134317" y="806365"/>
            <a:ext cx="6435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Algerian" panose="04020705040A02060702" pitchFamily="82" charset="0"/>
              </a:rPr>
              <a:t>Data Model and Relationships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D6524C-E31A-F365-AEB9-5DB17666A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147" y="1458411"/>
            <a:ext cx="10428790" cy="501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96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F39474-7EC5-3964-9912-00A7B6A89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3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A6B121-51AD-D085-E402-394812222208}"/>
              </a:ext>
            </a:extLst>
          </p:cNvPr>
          <p:cNvSpPr txBox="1"/>
          <p:nvPr/>
        </p:nvSpPr>
        <p:spPr>
          <a:xfrm>
            <a:off x="555580" y="470697"/>
            <a:ext cx="8032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  <a:t>Key Insights and Business Findings</a:t>
            </a:r>
            <a:endParaRPr lang="en-IN" sz="28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pic>
        <p:nvPicPr>
          <p:cNvPr id="3" name="Picture 2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A2A68394-D141-6C73-42D6-3798E3CC0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614"/>
            <a:ext cx="12192000" cy="564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17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F39474-7EC5-3964-9912-00A7B6A89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3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A6B121-51AD-D085-E402-394812222208}"/>
              </a:ext>
            </a:extLst>
          </p:cNvPr>
          <p:cNvSpPr txBox="1"/>
          <p:nvPr/>
        </p:nvSpPr>
        <p:spPr>
          <a:xfrm>
            <a:off x="555580" y="470697"/>
            <a:ext cx="8032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  <a:t>Key Insights and Business Findings</a:t>
            </a:r>
            <a:endParaRPr lang="en-IN" sz="28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BDC071-61FC-F9FE-A50A-2CBF166A7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3112"/>
            <a:ext cx="12192000" cy="564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976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F39474-7EC5-3964-9912-00A7B6A89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3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A6B121-51AD-D085-E402-394812222208}"/>
              </a:ext>
            </a:extLst>
          </p:cNvPr>
          <p:cNvSpPr txBox="1"/>
          <p:nvPr/>
        </p:nvSpPr>
        <p:spPr>
          <a:xfrm>
            <a:off x="555580" y="470697"/>
            <a:ext cx="8032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  <a:t>Key Insights and Business Findings</a:t>
            </a:r>
            <a:endParaRPr lang="en-IN" sz="28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9B241F0C-2933-CECF-494D-33AB580E51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1598"/>
            <a:ext cx="12192000" cy="557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74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F39474-7EC5-3964-9912-00A7B6A89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3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A6B121-51AD-D085-E402-394812222208}"/>
              </a:ext>
            </a:extLst>
          </p:cNvPr>
          <p:cNvSpPr txBox="1"/>
          <p:nvPr/>
        </p:nvSpPr>
        <p:spPr>
          <a:xfrm>
            <a:off x="555580" y="470697"/>
            <a:ext cx="8032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  <a:t>Key Insights and Business Findings</a:t>
            </a:r>
            <a:endParaRPr lang="en-IN" sz="28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696AC7-9B79-CA86-C581-EF1FE38A7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2807"/>
            <a:ext cx="12192000" cy="568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38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F39474-7EC5-3964-9912-00A7B6A89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36"/>
          <a:stretch/>
        </p:blipFill>
        <p:spPr>
          <a:xfrm>
            <a:off x="3109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A6B121-51AD-D085-E402-394812222208}"/>
              </a:ext>
            </a:extLst>
          </p:cNvPr>
          <p:cNvSpPr txBox="1"/>
          <p:nvPr/>
        </p:nvSpPr>
        <p:spPr>
          <a:xfrm>
            <a:off x="729201" y="596437"/>
            <a:ext cx="8032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  <a:t>Key Insights and Business Findings</a:t>
            </a:r>
            <a:endParaRPr lang="en-IN" sz="28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EA9B42-C080-66F5-8457-483770997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159718"/>
              </p:ext>
            </p:extLst>
          </p:nvPr>
        </p:nvGraphicFramePr>
        <p:xfrm>
          <a:off x="1203649" y="1408921"/>
          <a:ext cx="9666514" cy="4694022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634315">
                  <a:extLst>
                    <a:ext uri="{9D8B030D-6E8A-4147-A177-3AD203B41FA5}">
                      <a16:colId xmlns:a16="http://schemas.microsoft.com/office/drawing/2014/main" val="20770571"/>
                    </a:ext>
                  </a:extLst>
                </a:gridCol>
                <a:gridCol w="5032199">
                  <a:extLst>
                    <a:ext uri="{9D8B030D-6E8A-4147-A177-3AD203B41FA5}">
                      <a16:colId xmlns:a16="http://schemas.microsoft.com/office/drawing/2014/main" val="76533303"/>
                    </a:ext>
                  </a:extLst>
                </a:gridCol>
              </a:tblGrid>
              <a:tr h="491516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 Black" panose="020B0A04020102020204" pitchFamily="34" charset="0"/>
                        </a:rPr>
                        <a:t>Insight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rgbClr val="5A47EE"/>
                        </a:gs>
                        <a:gs pos="100000">
                          <a:srgbClr val="002060"/>
                        </a:gs>
                        <a:gs pos="25000">
                          <a:srgbClr val="92E3F6"/>
                        </a:gs>
                        <a:gs pos="77000">
                          <a:srgbClr val="5B47EF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b="1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Recommendation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rgbClr val="5A47EE"/>
                        </a:gs>
                        <a:gs pos="100000">
                          <a:srgbClr val="002060"/>
                        </a:gs>
                        <a:gs pos="25000">
                          <a:srgbClr val="92E3F6"/>
                        </a:gs>
                        <a:gs pos="77000">
                          <a:srgbClr val="5B47EF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87102708"/>
                  </a:ext>
                </a:extLst>
              </a:tr>
              <a:tr h="769621">
                <a:tc>
                  <a:txBody>
                    <a:bodyPr/>
                    <a:lstStyle/>
                    <a:p>
                      <a:r>
                        <a:rPr lang="en-US" sz="1800" b="0" kern="1200" cap="none" spc="0" dirty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High revenue concentration in the UK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Diversify marketing efforts in other countries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834415"/>
                  </a:ext>
                </a:extLst>
              </a:tr>
              <a:tr h="769621">
                <a:tc>
                  <a:txBody>
                    <a:bodyPr/>
                    <a:lstStyle/>
                    <a:p>
                      <a:r>
                        <a:rPr lang="en-US" sz="1800" b="0" kern="1200" cap="none" spc="0" dirty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Declining revenue trend in 2011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Launch reactivation campaigns for lost customers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6543461"/>
                  </a:ext>
                </a:extLst>
              </a:tr>
              <a:tr h="769621">
                <a:tc>
                  <a:txBody>
                    <a:bodyPr/>
                    <a:lstStyle/>
                    <a:p>
                      <a:r>
                        <a:rPr lang="en-IN" sz="1800" b="0" kern="1200" cap="none" spc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72% retention rate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Introduce loyalty programs for long-term retention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8652917"/>
                  </a:ext>
                </a:extLst>
              </a:tr>
              <a:tr h="769621">
                <a:tc>
                  <a:txBody>
                    <a:bodyPr/>
                    <a:lstStyle/>
                    <a:p>
                      <a:r>
                        <a:rPr lang="en-IN" sz="1800" b="0" kern="1200" cap="none" spc="0">
                          <a:ln w="0"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Product classification issues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b="1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Improve product </a:t>
                      </a:r>
                      <a:r>
                        <a:rPr lang="en-IN" sz="1800" b="1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catalog</a:t>
                      </a:r>
                      <a:r>
                        <a:rPr lang="en-IN" sz="1800" b="1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and metadata consistency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751424"/>
                  </a:ext>
                </a:extLst>
              </a:tr>
              <a:tr h="1124022">
                <a:tc>
                  <a:txBody>
                    <a:bodyPr/>
                    <a:lstStyle/>
                    <a:p>
                      <a:endParaRPr lang="en-IN" sz="1800" b="0" kern="1200" cap="none" spc="0" dirty="0">
                        <a:ln w="0"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800" b="1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55862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000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F39474-7EC5-3964-9912-00A7B6A89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3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A6B121-51AD-D085-E402-394812222208}"/>
              </a:ext>
            </a:extLst>
          </p:cNvPr>
          <p:cNvSpPr txBox="1"/>
          <p:nvPr/>
        </p:nvSpPr>
        <p:spPr>
          <a:xfrm>
            <a:off x="1423681" y="1051104"/>
            <a:ext cx="8032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  <a:t>Conclusion</a:t>
            </a:r>
            <a:endParaRPr lang="en-IN" sz="28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14204B-5169-7576-24DA-8AD18FADF633}"/>
              </a:ext>
            </a:extLst>
          </p:cNvPr>
          <p:cNvSpPr txBox="1"/>
          <p:nvPr/>
        </p:nvSpPr>
        <p:spPr>
          <a:xfrm>
            <a:off x="1284789" y="2144355"/>
            <a:ext cx="99195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This Power BI project transformed over  1 million retail transactions into actionable insights on </a:t>
            </a: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sales performance, customer retention, and product trends</a:t>
            </a: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The analysis revealed that the </a:t>
            </a: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UK drives 80% of revenue</a:t>
            </a: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, while improving </a:t>
            </a: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international marketing, customer loyalty, and product categorization</a:t>
            </a: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 can further boost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Future enhancements include </a:t>
            </a: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adding profit and forecasting models</a:t>
            </a: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 to strengthen decision-making and enable real-time business intelligence</a:t>
            </a:r>
            <a:r>
              <a:rPr lang="en-US" dirty="0"/>
              <a:t>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3928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F39474-7EC5-3964-9912-00A7B6A89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3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A6B121-51AD-D085-E402-394812222208}"/>
              </a:ext>
            </a:extLst>
          </p:cNvPr>
          <p:cNvSpPr txBox="1"/>
          <p:nvPr/>
        </p:nvSpPr>
        <p:spPr>
          <a:xfrm>
            <a:off x="1824898" y="2627978"/>
            <a:ext cx="80328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Algerian" panose="04020705040A02060702" pitchFamily="82" charset="0"/>
              </a:rPr>
              <a:t>THANK YOU</a:t>
            </a:r>
            <a:endParaRPr lang="en-IN" sz="40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1184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579</TotalTime>
  <Words>294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Arial</vt:lpstr>
      <vt:lpstr>Arial Black</vt:lpstr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ALWIN JACOB SHAJU</dc:creator>
  <cp:lastModifiedBy>ALWIN JACOB SHAJU</cp:lastModifiedBy>
  <cp:revision>12</cp:revision>
  <dcterms:created xsi:type="dcterms:W3CDTF">2025-11-10T10:56:35Z</dcterms:created>
  <dcterms:modified xsi:type="dcterms:W3CDTF">2025-11-12T05:00:24Z</dcterms:modified>
</cp:coreProperties>
</file>